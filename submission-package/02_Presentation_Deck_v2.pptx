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b="1" sz="1100">
                <a:solidFill>
                  <a:srgbClr val="10B981"/>
                </a:solidFill>
              </a:defRPr>
            </a:pPr>
            <a:r>
              <a:t>LEDGER ZERO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b="1" sz="3400">
                <a:solidFill>
                  <a:srgbClr val="FFFFFF"/>
                </a:solidFill>
              </a:defRPr>
            </a:pPr>
            <a:r>
              <a:t>Autonomous Financial Operating</a:t>
            </a:r>
            <a:br/>
            <a:r>
              <a:t>System &amp; Agentic Copilot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b="0" sz="1400">
                <a:solidFill>
                  <a:srgbClr val="94A3B8"/>
                </a:solidFill>
              </a:defRPr>
            </a:pPr>
            <a:r>
              <a:t>For Small &amp; Medium Enterprises — Shop Owners, Retailers, Wholesalers &amp; Service Businesses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3566160"/>
            <a:ext cx="11064240" cy="0"/>
          </a:xfrm>
          <a:prstGeom prst="line">
            <a:avLst/>
          </a:prstGeom>
          <a:ln w="19050">
            <a:solidFill>
              <a:srgbClr val="0478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374903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b="0" sz="1000">
                <a:solidFill>
                  <a:srgbClr val="10B981"/>
                </a:solidFill>
              </a:defRPr>
            </a:pPr>
            <a:r>
              <a:t>Tsinghua PBCSF &amp; WeBank FinTechathon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06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b="0" sz="1000">
                <a:solidFill>
                  <a:srgbClr val="64748B"/>
                </a:solidFill>
              </a:defRPr>
            </a:pPr>
            <a:r>
              <a:t>International Track — Topic E: SME Finance Copilot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b="0" sz="1000">
                <a:solidFill>
                  <a:srgbClr val="64748B"/>
                </a:solidFill>
              </a:defRPr>
            </a:pPr>
            <a:r>
              <a:t>Theme: 'AI as a Financial Participant' |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0"/>
            <a:ext cx="12188952" cy="59436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FFFFF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b="1" sz="1300">
                <a:solidFill>
                  <a:srgbClr val="10B981"/>
                </a:solidFill>
              </a:defRPr>
            </a:pPr>
            <a:r>
              <a:t>THE SME FINANCIAL CRISIS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b="0" sz="1200">
                <a:solidFill>
                  <a:srgbClr val="334155"/>
                </a:solidFill>
              </a:defRPr>
            </a:pPr>
            <a:r>
              <a:t>Why 82% of small businesses fail — and how LEDGER ZERO prevents it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097280"/>
            <a:ext cx="11064240" cy="0"/>
          </a:xfrm>
          <a:prstGeom prst="line">
            <a:avLst/>
          </a:prstGeom>
          <a:ln w="19050">
            <a:solidFill>
              <a:srgbClr val="0478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82880" y="1371600"/>
            <a:ext cx="5577840" cy="1920240"/>
          </a:xfrm>
          <a:prstGeom prst="ellipse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① Cash Flow Blindness</a:t>
            </a:r>
          </a:p>
          <a:p>
            <a:pPr>
              <a:defRPr sz="1100">
                <a:solidFill>
                  <a:srgbClr val="D1FAE5"/>
                </a:solidFill>
              </a:defRPr>
            </a:pPr>
            <a:r>
              <a:t>Bills fall due before receivables arrive. Owner discovers the shortfall when it's too late.</a:t>
            </a:r>
          </a:p>
        </p:txBody>
      </p:sp>
      <p:sp>
        <p:nvSpPr>
          <p:cNvPr id="8" name="Oval 7"/>
          <p:cNvSpPr/>
          <p:nvPr/>
        </p:nvSpPr>
        <p:spPr>
          <a:xfrm>
            <a:off x="6126480" y="1371600"/>
            <a:ext cx="5577840" cy="192024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② Bookkeeping Disconnect</a:t>
            </a:r>
          </a:p>
          <a:p>
            <a:pPr>
              <a:defRPr sz="1100">
                <a:solidFill>
                  <a:srgbClr val="D1FAE5"/>
                </a:solidFill>
              </a:defRPr>
            </a:pPr>
            <a:r>
              <a:t>Register sales and inventory are tracked separately in notebooks. Gross margin unknown until month-end.</a:t>
            </a:r>
          </a:p>
        </p:txBody>
      </p:sp>
      <p:sp>
        <p:nvSpPr>
          <p:cNvPr id="9" name="Oval 8"/>
          <p:cNvSpPr/>
          <p:nvPr/>
        </p:nvSpPr>
        <p:spPr>
          <a:xfrm>
            <a:off x="182880" y="3657600"/>
            <a:ext cx="5577840" cy="19202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③ Receivables Aging</a:t>
            </a:r>
          </a:p>
          <a:p>
            <a:pPr>
              <a:defRPr sz="1100">
                <a:solidFill>
                  <a:srgbClr val="D1FAE5"/>
                </a:solidFill>
              </a:defRPr>
            </a:pPr>
            <a:r>
              <a:t>Unpaid customer invoices drift 30-60-90+ days without automated follow-up. Working capital locked.</a:t>
            </a:r>
          </a:p>
        </p:txBody>
      </p:sp>
      <p:sp>
        <p:nvSpPr>
          <p:cNvPr id="10" name="Oval 9"/>
          <p:cNvSpPr/>
          <p:nvPr/>
        </p:nvSpPr>
        <p:spPr>
          <a:xfrm>
            <a:off x="6126480" y="3657600"/>
            <a:ext cx="5577840" cy="19202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④ Financing Opacity</a:t>
            </a:r>
          </a:p>
          <a:p>
            <a:pPr>
              <a:defRPr sz="1100">
                <a:solidFill>
                  <a:srgbClr val="D1FAE5"/>
                </a:solidFill>
              </a:defRPr>
            </a:pPr>
            <a:r>
              <a:t>SMEs can't decode APR, factoring fees, or collateral terms. Over-borrow at high rates or avoid credit entirely.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0"/>
            <a:ext cx="12188952" cy="594360"/>
          </a:xfrm>
          <a:prstGeom prst="ellipse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FFFFF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b="1" sz="1300">
                <a:solidFill>
                  <a:srgbClr val="FFFFFF"/>
                </a:solidFill>
              </a:defRPr>
            </a:pPr>
            <a:r>
              <a:t>THE LEDGER ZERO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b="0" sz="1200">
                <a:solidFill>
                  <a:srgbClr val="10B981"/>
                </a:solidFill>
              </a:defRPr>
            </a:pPr>
            <a:r>
              <a:t>AI as an Active Financial Participant — not a passive chatbot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097280"/>
            <a:ext cx="11064240" cy="0"/>
          </a:xfrm>
          <a:prstGeom prst="line">
            <a:avLst/>
          </a:prstGeom>
          <a:ln w="1905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274320" y="1371600"/>
            <a:ext cx="2103120" cy="2743200"/>
          </a:xfrm>
          <a:prstGeom prst="ellipse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① OBSERVE</a:t>
            </a:r>
          </a:p>
          <a:p>
            <a:pPr>
              <a:defRPr sz="1000">
                <a:solidFill>
                  <a:srgbClr val="D1FAE5"/>
                </a:solidFill>
              </a:defRPr>
            </a:pPr>
            <a:r>
              <a:t>Real-time cash, POS sales, bills &amp; stock telemetry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77439" y="2743200"/>
            <a:ext cx="182881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560320" y="1371600"/>
            <a:ext cx="2103120" cy="274320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② DIAGNOSE</a:t>
            </a:r>
          </a:p>
          <a:p>
            <a:pPr>
              <a:defRPr sz="1000">
                <a:solidFill>
                  <a:srgbClr val="D1FAE5"/>
                </a:solidFill>
              </a:defRPr>
            </a:pPr>
            <a:r>
              <a:t>Net 7-Day Liquidity Gap &amp; 4-Bucket AR Aging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663440" y="2743200"/>
            <a:ext cx="18288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4846320" y="1371600"/>
            <a:ext cx="2103120" cy="2743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③ PLAN</a:t>
            </a:r>
          </a:p>
          <a:p>
            <a:pPr>
              <a:defRPr sz="1000">
                <a:solidFill>
                  <a:srgbClr val="D1FAE5"/>
                </a:solidFill>
              </a:defRPr>
            </a:pPr>
            <a:r>
              <a:t>Formulate structured recovery action with ¥ figures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949440" y="2743200"/>
            <a:ext cx="18288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132320" y="1371600"/>
            <a:ext cx="2103120" cy="2743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④ APPROVE</a:t>
            </a:r>
          </a:p>
          <a:p>
            <a:pPr>
              <a:defRPr sz="1000">
                <a:solidFill>
                  <a:srgbClr val="D1FAE5"/>
                </a:solidFill>
              </a:defRPr>
            </a:pPr>
            <a:r>
              <a:t>Owner reviews and clicks 'Approve' — HITL Gate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235440" y="2743200"/>
            <a:ext cx="18288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9418320" y="1371600"/>
            <a:ext cx="2103120" cy="274320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⑤ EXECUTE</a:t>
            </a:r>
          </a:p>
          <a:p>
            <a:pPr>
              <a:defRPr sz="1000">
                <a:solidFill>
                  <a:srgbClr val="D1FAE5"/>
                </a:solidFill>
              </a:defRPr>
            </a:pPr>
            <a:r>
              <a:t>Atomic DB mutation + tamper-evident audit log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0"/>
            <a:ext cx="12188952" cy="59436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FFFFF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b="1" sz="1300">
                <a:solidFill>
                  <a:srgbClr val="10B981"/>
                </a:solidFill>
              </a:defRPr>
            </a:pPr>
            <a:r>
              <a:t>MODULE 1 — SHOP OVERVIEW DASHBOARD</a:t>
            </a:r>
          </a:p>
        </p:txBody>
      </p:sp>
      <p:pic>
        <p:nvPicPr>
          <p:cNvPr id="5" name="Picture 4" descr="dashboard_page_17923528217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0"/>
            <a:ext cx="7315200" cy="3474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63840" y="9144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b="0" sz="1100">
                <a:solidFill>
                  <a:srgbClr val="334155"/>
                </a:solidFill>
              </a:defRPr>
            </a:pPr>
            <a:r>
              <a:t>✓ Live cash in hand &amp; bank (¥ real-time)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64592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b="0" sz="1100">
                <a:solidFill>
                  <a:srgbClr val="334155"/>
                </a:solidFill>
              </a:defRPr>
            </a:pPr>
            <a:r>
              <a:t>✓ Today's POS sales &amp; gross margin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23774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b="0" sz="1100">
                <a:solidFill>
                  <a:srgbClr val="334155"/>
                </a:solidFill>
              </a:defRPr>
            </a:pPr>
            <a:r>
              <a:t>✓ Bills due in next 7 days (alert if &gt; cash)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310896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b="0" sz="1100">
                <a:solidFill>
                  <a:srgbClr val="334155"/>
                </a:solidFill>
              </a:defRPr>
            </a:pPr>
            <a:r>
              <a:t>✓ Overdue customer invoices aging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384048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b="0" sz="1100">
                <a:solidFill>
                  <a:srgbClr val="334155"/>
                </a:solidFill>
              </a:defRPr>
            </a:pPr>
            <a:r>
              <a:t>✓ Low-stock reorder alerts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45720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b="0" sz="1100">
                <a:solidFill>
                  <a:srgbClr val="334155"/>
                </a:solidFill>
              </a:defRPr>
            </a:pPr>
            <a:r>
              <a:t>✓ One-click access to all modules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0"/>
            <a:ext cx="12188952" cy="594360"/>
          </a:xfrm>
          <a:prstGeom prst="ellipse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FFFFF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b="1" sz="1300">
                <a:solidFill>
                  <a:srgbClr val="FFFFFF"/>
                </a:solidFill>
              </a:defRPr>
            </a:pPr>
            <a:r>
              <a:t>MODULE 2 — POS QUICK SELL &amp; AUTO-HISAB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b="0" sz="1200">
                <a:solidFill>
                  <a:srgbClr val="10B981"/>
                </a:solidFill>
              </a:defRPr>
            </a:pPr>
            <a:r>
              <a:t>One checkout click automatically executes four atomic operations — zero manual entry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188720"/>
            <a:ext cx="11064240" cy="0"/>
          </a:xfrm>
          <a:prstGeom prst="line">
            <a:avLst/>
          </a:prstGeom>
          <a:ln w="1905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82880" y="1371600"/>
            <a:ext cx="2560320" cy="1645920"/>
          </a:xfrm>
          <a:prstGeom prst="ellipse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Select Items</a:t>
            </a:r>
            <a:br/>
            <a:r>
              <a:t>(touch / scan)</a:t>
            </a:r>
          </a:p>
          <a:p>
            <a:pPr>
              <a:defRPr sz="1000">
                <a:solidFill>
                  <a:srgbClr val="D1FAE5"/>
                </a:solidFill>
              </a:defRPr>
            </a:pPr>
            <a:r>
              <a:t>Cashier selects products or scans barcode at register</a:t>
            </a:r>
          </a:p>
        </p:txBody>
      </p:sp>
      <p:sp>
        <p:nvSpPr>
          <p:cNvPr id="8" name="Oval 7"/>
          <p:cNvSpPr/>
          <p:nvPr/>
        </p:nvSpPr>
        <p:spPr>
          <a:xfrm>
            <a:off x="3017520" y="1371600"/>
            <a:ext cx="2560320" cy="164592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Set Qty &amp; Price</a:t>
            </a:r>
          </a:p>
          <a:p>
            <a:pPr>
              <a:defRPr sz="1000">
                <a:solidFill>
                  <a:srgbClr val="D1FAE5"/>
                </a:solidFill>
              </a:defRPr>
            </a:pPr>
            <a:r>
              <a:t>Pre-configured ¥ pricing with VAT preset</a:t>
            </a:r>
          </a:p>
        </p:txBody>
      </p:sp>
      <p:sp>
        <p:nvSpPr>
          <p:cNvPr id="9" name="Oval 8"/>
          <p:cNvSpPr/>
          <p:nvPr/>
        </p:nvSpPr>
        <p:spPr>
          <a:xfrm>
            <a:off x="5852160" y="1371600"/>
            <a:ext cx="2560320" cy="16459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Customer Pays</a:t>
            </a:r>
          </a:p>
          <a:p>
            <a:pPr>
              <a:defRPr sz="1000">
                <a:solidFill>
                  <a:srgbClr val="D1FAE5"/>
                </a:solidFill>
              </a:defRPr>
            </a:pPr>
            <a:r>
              <a:t>Cash · WeChat Pay · Alipay · Bank Card</a:t>
            </a:r>
          </a:p>
        </p:txBody>
      </p:sp>
      <p:sp>
        <p:nvSpPr>
          <p:cNvPr id="10" name="Oval 9"/>
          <p:cNvSpPr/>
          <p:nvPr/>
        </p:nvSpPr>
        <p:spPr>
          <a:xfrm>
            <a:off x="8686800" y="1371600"/>
            <a:ext cx="2560320" cy="1645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ONE-CLICK</a:t>
            </a:r>
            <a:br/>
            <a:r>
              <a:t>CHECKOUT</a:t>
            </a:r>
          </a:p>
          <a:p>
            <a:pPr>
              <a:defRPr sz="1000">
                <a:solidFill>
                  <a:srgbClr val="D1FAE5"/>
                </a:solidFill>
              </a:defRPr>
            </a:pPr>
            <a:r>
              <a:t>Single atomic commit triggers all 4 operations</a:t>
            </a:r>
          </a:p>
        </p:txBody>
      </p:sp>
      <p:sp>
        <p:nvSpPr>
          <p:cNvPr id="11" name="Oval 10"/>
          <p:cNvSpPr/>
          <p:nvPr/>
        </p:nvSpPr>
        <p:spPr>
          <a:xfrm>
            <a:off x="182880" y="3657600"/>
            <a:ext cx="2560320" cy="914400"/>
          </a:xfrm>
          <a:prstGeom prst="ellipse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Stock Decremented</a:t>
            </a:r>
          </a:p>
        </p:txBody>
      </p:sp>
      <p:sp>
        <p:nvSpPr>
          <p:cNvPr id="12" name="Oval 11"/>
          <p:cNvSpPr/>
          <p:nvPr/>
        </p:nvSpPr>
        <p:spPr>
          <a:xfrm>
            <a:off x="3017520" y="3657600"/>
            <a:ext cx="2560320" cy="91440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Invoice Issued (VAT)</a:t>
            </a:r>
          </a:p>
        </p:txBody>
      </p:sp>
      <p:sp>
        <p:nvSpPr>
          <p:cNvPr id="13" name="Oval 12"/>
          <p:cNvSpPr/>
          <p:nvPr/>
        </p:nvSpPr>
        <p:spPr>
          <a:xfrm>
            <a:off x="5852160" y="3657600"/>
            <a:ext cx="2560320" cy="9144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Cash Ledger Updated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0" y="3657600"/>
            <a:ext cx="2560320" cy="91440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Audit Log Written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0"/>
            <a:ext cx="12188952" cy="59436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FFFFF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b="1" sz="1300">
                <a:solidFill>
                  <a:srgbClr val="10B981"/>
                </a:solidFill>
              </a:defRPr>
            </a:pPr>
            <a:r>
              <a:t>MODULE 3 — 14-DAY CASH BUFFER &amp; LIQUIDITY ALERTS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b="0" sz="1200">
                <a:solidFill>
                  <a:srgbClr val="334155"/>
                </a:solidFill>
              </a:defRPr>
            </a:pPr>
            <a:r>
              <a:t>Prevents sudden insolvency by detecting cash shortfalls up to 14 days in advance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143000"/>
            <a:ext cx="11064240" cy="0"/>
          </a:xfrm>
          <a:prstGeom prst="line">
            <a:avLst/>
          </a:prstGeom>
          <a:ln w="19050">
            <a:solidFill>
              <a:srgbClr val="0478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274320" y="1280160"/>
            <a:ext cx="11612880" cy="73152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10B981"/>
                </a:solidFill>
              </a:defRPr>
            </a:pPr>
            <a:r>
              <a:t>Gap(7) = Cash on Hand + Bank  —  Σ Payables Due in Days 1 through 7</a:t>
            </a:r>
          </a:p>
        </p:txBody>
      </p:sp>
      <p:sp>
        <p:nvSpPr>
          <p:cNvPr id="8" name="Oval 7"/>
          <p:cNvSpPr/>
          <p:nvPr/>
        </p:nvSpPr>
        <p:spPr>
          <a:xfrm>
            <a:off x="274320" y="2240280"/>
            <a:ext cx="3566160" cy="685800"/>
          </a:xfrm>
          <a:prstGeom prst="ellipse">
            <a:avLst/>
          </a:prstGeom>
          <a:solidFill>
            <a:srgbClr val="047857"/>
          </a:solidFill>
          <a:ln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🟢 HEALTHY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3017520"/>
            <a:ext cx="3566160" cy="685800"/>
          </a:xfrm>
          <a:prstGeom prst="ellipse">
            <a:avLst/>
          </a:prstGeom>
          <a:solidFill>
            <a:srgbClr val="FFFFFF"/>
          </a:solidFill>
          <a:ln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0" sz="1100">
                <a:solidFill>
                  <a:srgbClr val="047857"/>
                </a:solidFill>
              </a:defRPr>
            </a:pPr>
            <a:r>
              <a:t>Gap &gt; 0 on both</a:t>
            </a:r>
            <a:br/>
            <a:r>
              <a:t>7-day and 14-day</a:t>
            </a:r>
          </a:p>
        </p:txBody>
      </p:sp>
      <p:sp>
        <p:nvSpPr>
          <p:cNvPr id="10" name="Oval 9"/>
          <p:cNvSpPr/>
          <p:nvPr/>
        </p:nvSpPr>
        <p:spPr>
          <a:xfrm>
            <a:off x="274320" y="3794760"/>
            <a:ext cx="3566160" cy="685800"/>
          </a:xfrm>
          <a:prstGeom prst="ellipse">
            <a:avLst/>
          </a:prstGeom>
          <a:solidFill>
            <a:srgbClr val="FFFFFF"/>
          </a:solidFill>
          <a:ln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0" sz="1100">
                <a:solidFill>
                  <a:srgbClr val="047857"/>
                </a:solidFill>
              </a:defRPr>
            </a:pPr>
            <a:r>
              <a:t>Dashboard shows</a:t>
            </a:r>
            <a:br/>
            <a:r>
              <a:t>green status</a:t>
            </a:r>
          </a:p>
        </p:txBody>
      </p:sp>
      <p:sp>
        <p:nvSpPr>
          <p:cNvPr id="11" name="Oval 10"/>
          <p:cNvSpPr/>
          <p:nvPr/>
        </p:nvSpPr>
        <p:spPr>
          <a:xfrm>
            <a:off x="4114800" y="2240280"/>
            <a:ext cx="3566160" cy="68580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🟡 CAUTION</a:t>
            </a:r>
          </a:p>
        </p:txBody>
      </p:sp>
      <p:sp>
        <p:nvSpPr>
          <p:cNvPr id="12" name="Oval 11"/>
          <p:cNvSpPr/>
          <p:nvPr/>
        </p:nvSpPr>
        <p:spPr>
          <a:xfrm>
            <a:off x="4114800" y="3017520"/>
            <a:ext cx="3566160" cy="685800"/>
          </a:xfrm>
          <a:prstGeom prst="ellipse">
            <a:avLst/>
          </a:prstGeom>
          <a:solidFill>
            <a:srgbClr val="FFFFF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0" sz="1100">
                <a:solidFill>
                  <a:srgbClr val="F59E0B"/>
                </a:solidFill>
              </a:defRPr>
            </a:pPr>
            <a:r>
              <a:t>Gap(7) &gt; 0 but</a:t>
            </a:r>
            <a:br/>
            <a:r>
              <a:t>Gap(14) &lt; 0</a:t>
            </a:r>
          </a:p>
        </p:txBody>
      </p:sp>
      <p:sp>
        <p:nvSpPr>
          <p:cNvPr id="13" name="Oval 12"/>
          <p:cNvSpPr/>
          <p:nvPr/>
        </p:nvSpPr>
        <p:spPr>
          <a:xfrm>
            <a:off x="4114800" y="3794760"/>
            <a:ext cx="3566160" cy="685800"/>
          </a:xfrm>
          <a:prstGeom prst="ellipse">
            <a:avLst/>
          </a:prstGeom>
          <a:solidFill>
            <a:srgbClr val="FFFFF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0" sz="1100">
                <a:solidFill>
                  <a:srgbClr val="F59E0B"/>
                </a:solidFill>
              </a:defRPr>
            </a:pPr>
            <a:r>
              <a:t>Amber warning:</a:t>
            </a:r>
            <a:br/>
            <a:r>
              <a:t>start collection</a:t>
            </a:r>
          </a:p>
        </p:txBody>
      </p:sp>
      <p:sp>
        <p:nvSpPr>
          <p:cNvPr id="14" name="Oval 13"/>
          <p:cNvSpPr/>
          <p:nvPr/>
        </p:nvSpPr>
        <p:spPr>
          <a:xfrm>
            <a:off x="7955280" y="2240280"/>
            <a:ext cx="3566160" cy="685800"/>
          </a:xfrm>
          <a:prstGeom prst="ellipse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🔴 CRITICAL</a:t>
            </a:r>
          </a:p>
        </p:txBody>
      </p:sp>
      <p:sp>
        <p:nvSpPr>
          <p:cNvPr id="15" name="Oval 14"/>
          <p:cNvSpPr/>
          <p:nvPr/>
        </p:nvSpPr>
        <p:spPr>
          <a:xfrm>
            <a:off x="7955280" y="3017520"/>
            <a:ext cx="3566160" cy="685800"/>
          </a:xfrm>
          <a:prstGeom prst="ellipse">
            <a:avLst/>
          </a:prstGeom>
          <a:solidFill>
            <a:srgbClr val="FFFFFF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0" sz="1100">
                <a:solidFill>
                  <a:srgbClr val="DC2626"/>
                </a:solidFill>
              </a:defRPr>
            </a:pPr>
            <a:r>
              <a:t>Gap(7) &lt; 0</a:t>
            </a:r>
            <a:br/>
            <a:r>
              <a:t>Bills exceed cash</a:t>
            </a:r>
          </a:p>
        </p:txBody>
      </p:sp>
      <p:sp>
        <p:nvSpPr>
          <p:cNvPr id="16" name="Oval 15"/>
          <p:cNvSpPr/>
          <p:nvPr/>
        </p:nvSpPr>
        <p:spPr>
          <a:xfrm>
            <a:off x="7955280" y="3794760"/>
            <a:ext cx="3566160" cy="685800"/>
          </a:xfrm>
          <a:prstGeom prst="ellipse">
            <a:avLst/>
          </a:prstGeom>
          <a:solidFill>
            <a:srgbClr val="FFFFFF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0" sz="1100">
                <a:solidFill>
                  <a:srgbClr val="DC2626"/>
                </a:solidFill>
              </a:defRPr>
            </a:pPr>
            <a:r>
              <a:t>RED alert + AI</a:t>
            </a:r>
            <a:br/>
            <a:r>
              <a:t>emergency plan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0"/>
            <a:ext cx="12188952" cy="594360"/>
          </a:xfrm>
          <a:prstGeom prst="ellipse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FFFFF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b="1" sz="1300">
                <a:solidFill>
                  <a:srgbClr val="FFFFFF"/>
                </a:solidFill>
              </a:defRPr>
            </a:pPr>
            <a:r>
              <a:t>MODULE 4 — INTELLIGENT ACCOUNTS RECEIVABLE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b="0" sz="1200">
                <a:solidFill>
                  <a:srgbClr val="10B981"/>
                </a:solidFill>
              </a:defRPr>
            </a:pPr>
            <a:r>
              <a:t>4-Bucket AR Aging Matrix with automated polite collection — reduces DSO by 40%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143000"/>
            <a:ext cx="11064240" cy="0"/>
          </a:xfrm>
          <a:prstGeom prst="line">
            <a:avLst/>
          </a:prstGeom>
          <a:ln w="1905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274320" y="1463040"/>
            <a:ext cx="2651760" cy="1463040"/>
          </a:xfrm>
          <a:prstGeom prst="ellipse">
            <a:avLst/>
          </a:prstGeom>
          <a:solidFill>
            <a:srgbClr val="047857"/>
          </a:solidFill>
          <a:ln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CURRENT</a:t>
            </a:r>
            <a:br/>
            <a:r>
              <a:t>0-30 Days</a:t>
            </a:r>
          </a:p>
        </p:txBody>
      </p:sp>
      <p:sp>
        <p:nvSpPr>
          <p:cNvPr id="8" name="Oval 7"/>
          <p:cNvSpPr/>
          <p:nvPr/>
        </p:nvSpPr>
        <p:spPr>
          <a:xfrm>
            <a:off x="274320" y="3017520"/>
            <a:ext cx="2651760" cy="731520"/>
          </a:xfrm>
          <a:prstGeom prst="ellipse">
            <a:avLst/>
          </a:prstGeom>
          <a:solidFill>
            <a:srgbClr val="1E3A5F"/>
          </a:solidFill>
          <a:ln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t>Low Risk</a:t>
            </a:r>
            <a:br/>
            <a:r>
              <a:t>0% write-off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3840480"/>
            <a:ext cx="2651760" cy="822960"/>
          </a:xfrm>
          <a:prstGeom prst="ellipse">
            <a:avLst/>
          </a:prstGeom>
          <a:solidFill>
            <a:srgbClr val="1E3A5F"/>
          </a:solidFill>
          <a:ln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t>Monitor only</a:t>
            </a:r>
          </a:p>
        </p:txBody>
      </p:sp>
      <p:sp>
        <p:nvSpPr>
          <p:cNvPr id="10" name="Oval 9"/>
          <p:cNvSpPr/>
          <p:nvPr/>
        </p:nvSpPr>
        <p:spPr>
          <a:xfrm>
            <a:off x="3200400" y="1463040"/>
            <a:ext cx="2651760" cy="1463040"/>
          </a:xfrm>
          <a:prstGeom prst="ellipse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OVERDUE</a:t>
            </a:r>
            <a:br/>
            <a:r>
              <a:t>31-60 Days</a:t>
            </a:r>
          </a:p>
        </p:txBody>
      </p:sp>
      <p:sp>
        <p:nvSpPr>
          <p:cNvPr id="11" name="Oval 10"/>
          <p:cNvSpPr/>
          <p:nvPr/>
        </p:nvSpPr>
        <p:spPr>
          <a:xfrm>
            <a:off x="3200400" y="3017520"/>
            <a:ext cx="2651760" cy="731520"/>
          </a:xfrm>
          <a:prstGeom prst="ellipse">
            <a:avLst/>
          </a:prstGeom>
          <a:solidFill>
            <a:srgbClr val="1E3A5F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t>Med Risk</a:t>
            </a:r>
            <a:br/>
            <a:r>
              <a:t>5% write-off</a:t>
            </a:r>
          </a:p>
        </p:txBody>
      </p:sp>
      <p:sp>
        <p:nvSpPr>
          <p:cNvPr id="12" name="Oval 11"/>
          <p:cNvSpPr/>
          <p:nvPr/>
        </p:nvSpPr>
        <p:spPr>
          <a:xfrm>
            <a:off x="3200400" y="3840480"/>
            <a:ext cx="2651760" cy="822960"/>
          </a:xfrm>
          <a:prstGeom prst="ellipse">
            <a:avLst/>
          </a:prstGeom>
          <a:solidFill>
            <a:srgbClr val="1E3A5F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t>Reminder + 2%</a:t>
            </a:r>
            <a:br/>
            <a:r>
              <a:t>early discount</a:t>
            </a:r>
          </a:p>
        </p:txBody>
      </p:sp>
      <p:sp>
        <p:nvSpPr>
          <p:cNvPr id="13" name="Oval 12"/>
          <p:cNvSpPr/>
          <p:nvPr/>
        </p:nvSpPr>
        <p:spPr>
          <a:xfrm>
            <a:off x="6126480" y="1463040"/>
            <a:ext cx="2651760" cy="1463040"/>
          </a:xfrm>
          <a:prstGeom prst="ellipse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HIGH RISK</a:t>
            </a:r>
            <a:br/>
            <a:r>
              <a:t>61-90 Days</a:t>
            </a:r>
          </a:p>
        </p:txBody>
      </p:sp>
      <p:sp>
        <p:nvSpPr>
          <p:cNvPr id="14" name="Oval 13"/>
          <p:cNvSpPr/>
          <p:nvPr/>
        </p:nvSpPr>
        <p:spPr>
          <a:xfrm>
            <a:off x="6126480" y="3017520"/>
            <a:ext cx="2651760" cy="731520"/>
          </a:xfrm>
          <a:prstGeom prst="ellipse">
            <a:avLst/>
          </a:prstGeom>
          <a:solidFill>
            <a:srgbClr val="1E3A5F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t>High Risk</a:t>
            </a:r>
            <a:br/>
            <a:r>
              <a:t>25% write-off</a:t>
            </a:r>
          </a:p>
        </p:txBody>
      </p:sp>
      <p:sp>
        <p:nvSpPr>
          <p:cNvPr id="15" name="Oval 14"/>
          <p:cNvSpPr/>
          <p:nvPr/>
        </p:nvSpPr>
        <p:spPr>
          <a:xfrm>
            <a:off x="6126480" y="3840480"/>
            <a:ext cx="2651760" cy="822960"/>
          </a:xfrm>
          <a:prstGeom prst="ellipse">
            <a:avLst/>
          </a:prstGeom>
          <a:solidFill>
            <a:srgbClr val="1E3A5F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t>Priority reminder</a:t>
            </a:r>
            <a:br/>
            <a:r>
              <a:t>+ settlement offer</a:t>
            </a:r>
          </a:p>
        </p:txBody>
      </p:sp>
      <p:sp>
        <p:nvSpPr>
          <p:cNvPr id="16" name="Oval 15"/>
          <p:cNvSpPr/>
          <p:nvPr/>
        </p:nvSpPr>
        <p:spPr>
          <a:xfrm>
            <a:off x="9052560" y="1463040"/>
            <a:ext cx="2651760" cy="1463040"/>
          </a:xfrm>
          <a:prstGeom prst="ellipse">
            <a:avLst/>
          </a:prstGeom>
          <a:solidFill>
            <a:srgbClr val="7F1D1D"/>
          </a:solidFill>
          <a:ln>
            <a:solidFill>
              <a:srgbClr val="7F1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CRITICAL</a:t>
            </a:r>
            <a:br/>
            <a:r>
              <a:t>90+ Days</a:t>
            </a:r>
          </a:p>
        </p:txBody>
      </p:sp>
      <p:sp>
        <p:nvSpPr>
          <p:cNvPr id="17" name="Oval 16"/>
          <p:cNvSpPr/>
          <p:nvPr/>
        </p:nvSpPr>
        <p:spPr>
          <a:xfrm>
            <a:off x="9052560" y="3017520"/>
            <a:ext cx="2651760" cy="731520"/>
          </a:xfrm>
          <a:prstGeom prst="ellipse">
            <a:avLst/>
          </a:prstGeom>
          <a:solidFill>
            <a:srgbClr val="1E3A5F"/>
          </a:solidFill>
          <a:ln>
            <a:solidFill>
              <a:srgbClr val="7F1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t>CRITICAL</a:t>
            </a:r>
            <a:br/>
            <a:r>
              <a:t>70% write-off</a:t>
            </a:r>
          </a:p>
        </p:txBody>
      </p:sp>
      <p:sp>
        <p:nvSpPr>
          <p:cNvPr id="18" name="Oval 17"/>
          <p:cNvSpPr/>
          <p:nvPr/>
        </p:nvSpPr>
        <p:spPr>
          <a:xfrm>
            <a:off x="9052560" y="3840480"/>
            <a:ext cx="2651760" cy="822960"/>
          </a:xfrm>
          <a:prstGeom prst="ellipse">
            <a:avLst/>
          </a:prstGeom>
          <a:solidFill>
            <a:srgbClr val="1E3A5F"/>
          </a:solidFill>
          <a:ln>
            <a:solidFill>
              <a:srgbClr val="7F1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t>Legal notice</a:t>
            </a:r>
            <a:br/>
            <a:r>
              <a:t>+ invoice factoring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0"/>
            <a:ext cx="12188952" cy="59436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FFFFF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b="1" sz="1300">
                <a:solidFill>
                  <a:srgbClr val="10B981"/>
                </a:solidFill>
              </a:defRPr>
            </a:pPr>
            <a:r>
              <a:t>MODULE 5 — SME FINANCING MATCHING &amp; WHAT-IF SIMULATOR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b="0" sz="1200">
                <a:solidFill>
                  <a:srgbClr val="334155"/>
                </a:solidFill>
              </a:defRPr>
            </a:pPr>
            <a:r>
              <a:t>Matches the business's verified cash trajectory to the optimal credit instrument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143000"/>
            <a:ext cx="11064240" cy="0"/>
          </a:xfrm>
          <a:prstGeom prst="line">
            <a:avLst/>
          </a:prstGeom>
          <a:ln w="19050">
            <a:solidFill>
              <a:srgbClr val="0478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82880" y="1371600"/>
            <a:ext cx="2651760" cy="3291840"/>
          </a:xfrm>
          <a:prstGeom prst="ellipse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Invoice</a:t>
            </a:r>
            <a:br/>
            <a:r>
              <a:t>Factoring</a:t>
            </a:r>
          </a:p>
          <a:p>
            <a:pPr algn="ctr">
              <a:defRPr sz="1100">
                <a:solidFill>
                  <a:srgbClr val="D1FAE5"/>
                </a:solidFill>
              </a:defRPr>
            </a:pPr>
            <a:r>
              <a:t>Advance 90% of</a:t>
            </a:r>
            <a:br/>
            <a:r>
              <a:t>30-60d receivables</a:t>
            </a:r>
            <a:br/>
            <a:r>
              <a:t>Fee: 1.5%</a:t>
            </a:r>
          </a:p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Best when</a:t>
            </a:r>
            <a:br/>
            <a:r>
              <a:t>AR &gt; Payables</a:t>
            </a:r>
          </a:p>
        </p:txBody>
      </p:sp>
      <p:sp>
        <p:nvSpPr>
          <p:cNvPr id="8" name="Oval 7"/>
          <p:cNvSpPr/>
          <p:nvPr/>
        </p:nvSpPr>
        <p:spPr>
          <a:xfrm>
            <a:off x="3108960" y="1371600"/>
            <a:ext cx="2651760" cy="329184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Working Capital</a:t>
            </a:r>
            <a:br/>
            <a:r>
              <a:t>Micro-Credit</a:t>
            </a:r>
          </a:p>
          <a:p>
            <a:pPr algn="ctr">
              <a:defRPr sz="1100">
                <a:solidFill>
                  <a:srgbClr val="D1FAE5"/>
                </a:solidFill>
              </a:defRPr>
            </a:pPr>
            <a:r>
              <a:t>3-month loan</a:t>
            </a:r>
            <a:br/>
            <a:r>
              <a:t>7.2% annual rate</a:t>
            </a:r>
            <a:br/>
            <a:r>
              <a:t>for inventory</a:t>
            </a:r>
          </a:p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Best when</a:t>
            </a:r>
            <a:br/>
            <a:r>
              <a:t>stock is the gap</a:t>
            </a:r>
          </a:p>
        </p:txBody>
      </p:sp>
      <p:sp>
        <p:nvSpPr>
          <p:cNvPr id="9" name="Oval 8"/>
          <p:cNvSpPr/>
          <p:nvPr/>
        </p:nvSpPr>
        <p:spPr>
          <a:xfrm>
            <a:off x="6035040" y="1371600"/>
            <a:ext cx="2651760" cy="32918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Merchant</a:t>
            </a:r>
            <a:br/>
            <a:r>
              <a:t>Overdraft Line</a:t>
            </a:r>
          </a:p>
          <a:p>
            <a:pPr algn="ctr">
              <a:defRPr sz="1100">
                <a:solidFill>
                  <a:srgbClr val="D1FAE5"/>
                </a:solidFill>
              </a:defRPr>
            </a:pPr>
            <a:r>
              <a:t>Flexible credit line</a:t>
            </a:r>
            <a:br/>
            <a:r>
              <a:t>for rent &amp; payroll</a:t>
            </a:r>
            <a:br/>
            <a:r>
              <a:t>short-term buffer</a:t>
            </a:r>
          </a:p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Emergency</a:t>
            </a:r>
            <a:br/>
            <a:r>
              <a:t>cash gap cover</a:t>
            </a:r>
          </a:p>
        </p:txBody>
      </p:sp>
      <p:sp>
        <p:nvSpPr>
          <p:cNvPr id="10" name="Oval 9"/>
          <p:cNvSpPr/>
          <p:nvPr/>
        </p:nvSpPr>
        <p:spPr>
          <a:xfrm>
            <a:off x="8961120" y="1371600"/>
            <a:ext cx="2651760" cy="32918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Prompt Payment</a:t>
            </a:r>
            <a:br/>
            <a:r>
              <a:t>Discount</a:t>
            </a:r>
          </a:p>
          <a:p>
            <a:pPr algn="ctr">
              <a:defRPr sz="1100">
                <a:solidFill>
                  <a:srgbClr val="D1FAE5"/>
                </a:solidFill>
              </a:defRPr>
            </a:pPr>
            <a:r>
              <a:t>2% off if paid</a:t>
            </a:r>
            <a:br/>
            <a:r>
              <a:t>within 48 hours</a:t>
            </a:r>
            <a:br/>
            <a:r>
              <a:t>Cost: AR × 0.02</a:t>
            </a:r>
          </a:p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Compare vs.</a:t>
            </a:r>
            <a:br/>
            <a:r>
              <a:t>borrowing APR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0"/>
            <a:ext cx="12188952" cy="59436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FFFFF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b="1" sz="1300">
                <a:solidFill>
                  <a:srgbClr val="FFFFFF"/>
                </a:solidFill>
              </a:defRPr>
            </a:pPr>
            <a:r>
              <a:t>SECURITY ARCHITECTURE (30% Score Weight)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b="0" sz="1200">
                <a:solidFill>
                  <a:srgbClr val="10B981"/>
                </a:solidFill>
              </a:defRPr>
            </a:pPr>
            <a:r>
              <a:t>Bank-grade protection with human-in-the-loop governance at every critical mutation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143000"/>
            <a:ext cx="11064240" cy="0"/>
          </a:xfrm>
          <a:prstGeom prst="line">
            <a:avLst/>
          </a:prstGeom>
          <a:ln w="1905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274320" y="1371600"/>
            <a:ext cx="2651760" cy="347472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🔐 RBAC</a:t>
            </a:r>
          </a:p>
          <a:p>
            <a:pPr algn="ctr">
              <a:defRPr sz="1100">
                <a:solidFill>
                  <a:srgbClr val="D1FAE5"/>
                </a:solidFill>
              </a:defRPr>
            </a:pPr>
            <a:r>
              <a:t>Owner · Manager</a:t>
            </a:r>
            <a:br/>
            <a:r>
              <a:t>Cashier · Viewer</a:t>
            </a:r>
            <a:br/>
            <a:br/>
            <a:r>
              <a:t>Least-privilege</a:t>
            </a:r>
            <a:br/>
            <a:r>
              <a:t>per role</a:t>
            </a:r>
          </a:p>
        </p:txBody>
      </p:sp>
      <p:sp>
        <p:nvSpPr>
          <p:cNvPr id="8" name="Oval 7"/>
          <p:cNvSpPr/>
          <p:nvPr/>
        </p:nvSpPr>
        <p:spPr>
          <a:xfrm>
            <a:off x="3200400" y="1371600"/>
            <a:ext cx="2651760" cy="347472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👁  HITL Gate</a:t>
            </a:r>
          </a:p>
          <a:p>
            <a:pPr algn="ctr">
              <a:defRPr sz="1100">
                <a:solidFill>
                  <a:srgbClr val="D1FAE5"/>
                </a:solidFill>
              </a:defRPr>
            </a:pPr>
            <a:r>
              <a:t>AI plans actions</a:t>
            </a:r>
            <a:br/>
            <a:r>
              <a:t>Owner must approve</a:t>
            </a:r>
            <a:br/>
            <a:r>
              <a:t>before ANY mutation</a:t>
            </a:r>
            <a:br/>
            <a:br/>
            <a:r>
              <a:t>No auto-execute</a:t>
            </a:r>
          </a:p>
        </p:txBody>
      </p:sp>
      <p:sp>
        <p:nvSpPr>
          <p:cNvPr id="9" name="Oval 8"/>
          <p:cNvSpPr/>
          <p:nvPr/>
        </p:nvSpPr>
        <p:spPr>
          <a:xfrm>
            <a:off x="6126480" y="1371600"/>
            <a:ext cx="2651760" cy="34747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🛡  PostgreSQL RLS</a:t>
            </a:r>
          </a:p>
          <a:p>
            <a:pPr algn="ctr">
              <a:defRPr sz="1100">
                <a:solidFill>
                  <a:srgbClr val="D1FAE5"/>
                </a:solidFill>
              </a:defRPr>
            </a:pPr>
            <a:r>
              <a:t>business_id = uid()</a:t>
            </a:r>
            <a:br/>
            <a:r>
              <a:t>enforced at DB level</a:t>
            </a:r>
            <a:br/>
            <a:br/>
            <a:r>
              <a:t>Zero cross-tenant</a:t>
            </a:r>
            <a:br/>
            <a:r>
              <a:t>data leakage</a:t>
            </a:r>
          </a:p>
        </p:txBody>
      </p:sp>
      <p:sp>
        <p:nvSpPr>
          <p:cNvPr id="10" name="Oval 9"/>
          <p:cNvSpPr/>
          <p:nvPr/>
        </p:nvSpPr>
        <p:spPr>
          <a:xfrm>
            <a:off x="9052560" y="1371600"/>
            <a:ext cx="2651760" cy="3474720"/>
          </a:xfrm>
          <a:prstGeom prst="ellipse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📋 Audit Log</a:t>
            </a:r>
          </a:p>
          <a:p>
            <a:pPr algn="ctr">
              <a:defRPr sz="1100">
                <a:solidFill>
                  <a:srgbClr val="D1FAE5"/>
                </a:solidFill>
              </a:defRPr>
            </a:pPr>
            <a:r>
              <a:t>Append-only ledger</a:t>
            </a:r>
            <a:br/>
            <a:r>
              <a:t>User · timestamp</a:t>
            </a:r>
            <a:br/>
            <a:r>
              <a:t>Before &amp; after state</a:t>
            </a:r>
            <a:br/>
            <a:r>
              <a:t>Hash fingerprint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0"/>
            <a:ext cx="12188952" cy="59436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FFFFF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b="1" sz="1300">
                <a:solidFill>
                  <a:srgbClr val="10B981"/>
                </a:solidFill>
              </a:defRPr>
            </a:pPr>
            <a:r>
              <a:t>VERIFIED EXECUTION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b="0" sz="1200">
                <a:solidFill>
                  <a:srgbClr val="334155"/>
                </a:solidFill>
              </a:defRPr>
            </a:pPr>
            <a:r>
              <a:t>32/32 Automated Tests Passing · 27 Production Routes Built · 0 Errors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143000"/>
            <a:ext cx="11064240" cy="0"/>
          </a:xfrm>
          <a:prstGeom prst="line">
            <a:avLst/>
          </a:prstGeom>
          <a:ln w="19050">
            <a:solidFill>
              <a:srgbClr val="0478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274320" y="1371600"/>
            <a:ext cx="2103120" cy="1828800"/>
          </a:xfrm>
          <a:prstGeom prst="ellipse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800">
                <a:solidFill>
                  <a:srgbClr val="FFFFFF"/>
                </a:solidFill>
              </a:defRPr>
            </a:pPr>
            <a:r>
              <a:t>32 / 32</a:t>
            </a:r>
          </a:p>
          <a:p>
            <a:pPr algn="ctr">
              <a:defRPr sz="1100">
                <a:solidFill>
                  <a:srgbClr val="D1FAE5"/>
                </a:solidFill>
              </a:defRPr>
            </a:pPr>
            <a:r>
              <a:t>Vitest Tests</a:t>
            </a:r>
            <a:br/>
            <a:r>
              <a:t>Passing</a:t>
            </a:r>
          </a:p>
        </p:txBody>
      </p:sp>
      <p:sp>
        <p:nvSpPr>
          <p:cNvPr id="8" name="Oval 7"/>
          <p:cNvSpPr/>
          <p:nvPr/>
        </p:nvSpPr>
        <p:spPr>
          <a:xfrm>
            <a:off x="2606039" y="1371600"/>
            <a:ext cx="2103120" cy="182880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800">
                <a:solidFill>
                  <a:srgbClr val="FFFFFF"/>
                </a:solidFill>
              </a:defRPr>
            </a:pPr>
            <a:r>
              <a:t>9</a:t>
            </a:r>
          </a:p>
          <a:p>
            <a:pPr algn="ctr">
              <a:defRPr sz="1100">
                <a:solidFill>
                  <a:srgbClr val="D1FAE5"/>
                </a:solidFill>
              </a:defRPr>
            </a:pPr>
            <a:r>
              <a:t>Test Suites</a:t>
            </a:r>
            <a:br/>
            <a:r>
              <a:t>Covered</a:t>
            </a:r>
          </a:p>
        </p:txBody>
      </p:sp>
      <p:sp>
        <p:nvSpPr>
          <p:cNvPr id="9" name="Oval 8"/>
          <p:cNvSpPr/>
          <p:nvPr/>
        </p:nvSpPr>
        <p:spPr>
          <a:xfrm>
            <a:off x="4937759" y="1371600"/>
            <a:ext cx="2103120" cy="18288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800">
                <a:solidFill>
                  <a:srgbClr val="FFFFFF"/>
                </a:solidFill>
              </a:defRPr>
            </a:pPr>
            <a:r>
              <a:t>27</a:t>
            </a:r>
          </a:p>
          <a:p>
            <a:pPr algn="ctr">
              <a:defRPr sz="1100">
                <a:solidFill>
                  <a:srgbClr val="D1FAE5"/>
                </a:solidFill>
              </a:defRPr>
            </a:pPr>
            <a:r>
              <a:t>Production</a:t>
            </a:r>
            <a:br/>
            <a:r>
              <a:t>Routes Built</a:t>
            </a:r>
          </a:p>
        </p:txBody>
      </p:sp>
      <p:sp>
        <p:nvSpPr>
          <p:cNvPr id="10" name="Oval 9"/>
          <p:cNvSpPr/>
          <p:nvPr/>
        </p:nvSpPr>
        <p:spPr>
          <a:xfrm>
            <a:off x="7269479" y="1371600"/>
            <a:ext cx="2103120" cy="18288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800">
                <a:solidFill>
                  <a:srgbClr val="FFFFFF"/>
                </a:solidFill>
              </a:defRPr>
            </a:pPr>
            <a:r>
              <a:t>0</a:t>
            </a:r>
          </a:p>
          <a:p>
            <a:pPr algn="ctr">
              <a:defRPr sz="1100">
                <a:solidFill>
                  <a:srgbClr val="D1FAE5"/>
                </a:solidFill>
              </a:defRPr>
            </a:pPr>
            <a:r>
              <a:t>Build</a:t>
            </a:r>
            <a:br/>
            <a:r>
              <a:t>Errors</a:t>
            </a:r>
          </a:p>
        </p:txBody>
      </p:sp>
      <p:sp>
        <p:nvSpPr>
          <p:cNvPr id="11" name="Oval 10"/>
          <p:cNvSpPr/>
          <p:nvPr/>
        </p:nvSpPr>
        <p:spPr>
          <a:xfrm>
            <a:off x="9601200" y="1371600"/>
            <a:ext cx="2103120" cy="182880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800">
                <a:solidFill>
                  <a:srgbClr val="FFFFFF"/>
                </a:solidFill>
              </a:defRPr>
            </a:pPr>
            <a:r>
              <a:t>&lt; 300ms</a:t>
            </a:r>
          </a:p>
          <a:p>
            <a:pPr algn="ctr">
              <a:defRPr sz="1100">
                <a:solidFill>
                  <a:srgbClr val="D1FAE5"/>
                </a:solidFill>
              </a:defRPr>
            </a:pPr>
            <a:r>
              <a:t>AI Response</a:t>
            </a:r>
            <a:br/>
            <a:r>
              <a:t>Latency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566160"/>
            <a:ext cx="11612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4155"/>
                </a:solidFill>
              </a:defRPr>
            </a:pPr>
            <a:r>
              <a:t>✓ pos-inventory.test.ts → records POS sale, auto-deducts stock, creates paid invoice, settles cash, writes audit [PASS]</a:t>
            </a:r>
            <a:br/>
            <a:r>
              <a:t>✓ agent-simulator.test.ts → cash shortage prompt → plan → pending_approval; execute only after owner approval [PASS]</a:t>
            </a:r>
            <a:br/>
            <a:r>
              <a:t>✓ finance-engine.test.ts (10 tests) → gap detection, AR aging, what-if simulator, integer precision [ALL PASS]</a:t>
            </a:r>
            <a:br/>
            <a:r>
              <a:t>✓ role-permissions.test.ts → Owner approves; Cashier cannot access /admin; Viewer read-only enforced [PASS]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0"/>
            <a:ext cx="12188952" cy="594360"/>
          </a:xfrm>
          <a:prstGeom prst="ellipse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FFFFF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b="1" sz="1300">
                <a:solidFill>
                  <a:srgbClr val="FFFFFF"/>
                </a:solidFill>
              </a:defRPr>
            </a:pPr>
            <a:r>
              <a:t>WHY LEDGER ZERO WINS TOPIC 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85800"/>
            <a:ext cx="11064240" cy="0"/>
          </a:xfrm>
          <a:prstGeom prst="line">
            <a:avLst/>
          </a:prstGeom>
          <a:ln w="1905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74320" y="822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b="0" sz="1400">
                <a:solidFill>
                  <a:srgbClr val="10B981"/>
                </a:solidFill>
              </a:defRPr>
            </a:pPr>
            <a:r>
              <a:t>We built a real autonomous financial participant — not a chatbot that talks about money,</a:t>
            </a:r>
            <a:br/>
            <a:r>
              <a:t>but a system that actively manages it.</a:t>
            </a:r>
          </a:p>
        </p:txBody>
      </p:sp>
      <p:sp>
        <p:nvSpPr>
          <p:cNvPr id="7" name="Oval 6"/>
          <p:cNvSpPr/>
          <p:nvPr/>
        </p:nvSpPr>
        <p:spPr>
          <a:xfrm>
            <a:off x="274320" y="1554480"/>
            <a:ext cx="5577840" cy="1280160"/>
          </a:xfrm>
          <a:prstGeom prst="ellipse">
            <a:avLst/>
          </a:prstGeom>
          <a:solidFill>
            <a:srgbClr val="1E3A5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10B981"/>
                </a:solidFill>
              </a:defRPr>
            </a:pPr>
            <a:r>
              <a:t>✓  Authentic SME Focus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Directly solves the real daily pain of retailers, wholesalers &amp; service businesses</a:t>
            </a:r>
          </a:p>
        </p:txBody>
      </p:sp>
      <p:sp>
        <p:nvSpPr>
          <p:cNvPr id="8" name="Oval 7"/>
          <p:cNvSpPr/>
          <p:nvPr/>
        </p:nvSpPr>
        <p:spPr>
          <a:xfrm>
            <a:off x="6217920" y="1554480"/>
            <a:ext cx="5577840" cy="1280160"/>
          </a:xfrm>
          <a:prstGeom prst="ellipse">
            <a:avLst/>
          </a:prstGeom>
          <a:solidFill>
            <a:srgbClr val="1E3A5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10B981"/>
                </a:solidFill>
              </a:defRPr>
            </a:pPr>
            <a:r>
              <a:t>✓  Active Execution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AI bridges conversational intent with verified database mutations via HITL gates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3063239"/>
            <a:ext cx="5577840" cy="1280160"/>
          </a:xfrm>
          <a:prstGeom prst="ellipse">
            <a:avLst/>
          </a:prstGeom>
          <a:solidFill>
            <a:srgbClr val="1E3A5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10B981"/>
                </a:solidFill>
              </a:defRPr>
            </a:pPr>
            <a:r>
              <a:t>✓  Deterministic Trust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Strict decoupling: AI interprets language · Engine computes money · DB records truth</a:t>
            </a:r>
          </a:p>
        </p:txBody>
      </p:sp>
      <p:sp>
        <p:nvSpPr>
          <p:cNvPr id="10" name="Oval 9"/>
          <p:cNvSpPr/>
          <p:nvPr/>
        </p:nvSpPr>
        <p:spPr>
          <a:xfrm>
            <a:off x="6217920" y="3063239"/>
            <a:ext cx="5577840" cy="1280160"/>
          </a:xfrm>
          <a:prstGeom prst="ellipse">
            <a:avLst/>
          </a:prstGeom>
          <a:solidFill>
            <a:srgbClr val="1E3A5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10B981"/>
                </a:solidFill>
              </a:defRPr>
            </a:pPr>
            <a:r>
              <a:t>✓  Bank-Grade Security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PostgreSQL RLS · RBAC · Append-only audit · AES-256 encryption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4572000"/>
            <a:ext cx="5577840" cy="1280160"/>
          </a:xfrm>
          <a:prstGeom prst="ellipse">
            <a:avLst/>
          </a:prstGeom>
          <a:solidFill>
            <a:srgbClr val="1E3A5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10B981"/>
                </a:solidFill>
              </a:defRPr>
            </a:pPr>
            <a:r>
              <a:t>✓  Full Topic E Coverage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Financing matching · Cash-flow alerts · Business analysis · HITL governance</a:t>
            </a:r>
          </a:p>
        </p:txBody>
      </p:sp>
      <p:sp>
        <p:nvSpPr>
          <p:cNvPr id="12" name="Oval 11"/>
          <p:cNvSpPr/>
          <p:nvPr/>
        </p:nvSpPr>
        <p:spPr>
          <a:xfrm>
            <a:off x="6217920" y="4572000"/>
            <a:ext cx="5577840" cy="1280160"/>
          </a:xfrm>
          <a:prstGeom prst="ellipse">
            <a:avLst/>
          </a:prstGeom>
          <a:solidFill>
            <a:srgbClr val="1E3A5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10B981"/>
                </a:solidFill>
              </a:defRPr>
            </a:pPr>
            <a:r>
              <a:t>✓  Production Quality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32/32 tests pass · 27 routes build clean · Real flowcharts · Real screenshots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